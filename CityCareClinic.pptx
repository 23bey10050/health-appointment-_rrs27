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39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10535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full-stack clinic platform, not a chatbot demo. The distinctive part is that safety-critical triage does not depend on the AI model being available — it runs first, and deterministically.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not UI problems, they are triage problems. The booking step is the first point where urgency could be caught, and traditional forms throw that information away.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 is the important one. The red-flag matcher is a phrase list with negation handling, not a model call, so it works even when every AI provider is rate-limited or down.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portal has its own sign-in entrance from the landing page. Role is enforced server-side on every request, not just hidden in the 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Anything a responder acts on — ambulance requested, callback number, emergency escalation — is captured deterministically in code, because it cannot depend on a model choosing to call a tool.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Moving speech into the browser removed about 1 GB of model weights from the server image, which is what makes free-tier hosting viable. Full instructions are in deploy/README.md.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clinic-frontend-q3yd.onrender.com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2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9" Type="http://schemas.openxmlformats.org/officeDocument/2006/relationships/hyperlink" Target="https://clinic-frontend-q3yd.onrender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2011680"/>
            <a:ext cx="5943600" cy="5943600"/>
          </a:xfrm>
          <a:prstGeom prst="ellipse">
            <a:avLst/>
          </a:prstGeom>
          <a:solidFill>
            <a:srgbClr val="1E3A8A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2103120" y="4297680"/>
            <a:ext cx="4754880" cy="4754880"/>
          </a:xfrm>
          <a:prstGeom prst="ellipse">
            <a:avLst/>
          </a:prstGeom>
          <a:solidFill>
            <a:srgbClr val="2563EB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" y="685800"/>
            <a:ext cx="658368" cy="658368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citycare/icons/white/hospit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822960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1488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kern="0" spc="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CITY CARE CLINIC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822960" y="2971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Voice-led appointment booking with built-in emergency triage  -- </a:t>
            </a:r>
            <a:r>
              <a:rPr lang="en-US" sz="20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Production LINK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22960" y="3703320"/>
            <a:ext cx="8778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patient describes how they feel in plain words. The system asks a few questions, routes them to the right specialisation, and books a real appointment — or, if the symptoms are serious, stops booking and escalates instead.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822960" y="5074920"/>
            <a:ext cx="2551176" cy="1188720"/>
          </a:xfrm>
          <a:prstGeom prst="roundRect">
            <a:avLst>
              <a:gd name="adj" fmla="val 6154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987552" y="5166360"/>
            <a:ext cx="22219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0A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987552" y="5669280"/>
            <a:ext cx="22219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Portals — Patient, Doctor, Administrator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557016" y="5074920"/>
            <a:ext cx="2551176" cy="1188720"/>
          </a:xfrm>
          <a:prstGeom prst="roundRect">
            <a:avLst>
              <a:gd name="adj" fmla="val 6154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721608" y="5166360"/>
            <a:ext cx="22219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0A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3721608" y="5669280"/>
            <a:ext cx="22219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categories detected without AI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291072" y="5074920"/>
            <a:ext cx="2551176" cy="1188720"/>
          </a:xfrm>
          <a:prstGeom prst="roundRect">
            <a:avLst>
              <a:gd name="adj" fmla="val 6154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455664" y="5166360"/>
            <a:ext cx="22219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0A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157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6455664" y="5669280"/>
            <a:ext cx="22219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9025128" y="5074920"/>
            <a:ext cx="2551176" cy="1188720"/>
          </a:xfrm>
          <a:prstGeom prst="roundRect">
            <a:avLst>
              <a:gd name="adj" fmla="val 6154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9189720" y="5166360"/>
            <a:ext cx="22219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0A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</a:t>
            </a:r>
            <a:endParaRPr lang="en-US" sz="2800" dirty="0"/>
          </a:p>
        </p:txBody>
      </p:sp>
      <p:sp>
        <p:nvSpPr>
          <p:cNvPr id="20" name="Text 17"/>
          <p:cNvSpPr/>
          <p:nvPr/>
        </p:nvSpPr>
        <p:spPr>
          <a:xfrm>
            <a:off x="9189720" y="5669280"/>
            <a:ext cx="22219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entirely on free-tier infrastructure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Booking an appointment asks patients the wrong questions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502152" cy="3931920"/>
          </a:xfrm>
          <a:prstGeom prst="roundRect">
            <a:avLst>
              <a:gd name="adj" fmla="val 23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64748B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32688" y="2194560"/>
            <a:ext cx="685800" cy="685800"/>
          </a:xfrm>
          <a:prstGeom prst="ellipse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citycare/icons/blue/help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" y="2350008"/>
            <a:ext cx="374904" cy="3749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364992" y="216712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E2E8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32688" y="3108960"/>
            <a:ext cx="291693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Patients must self-diagnose to book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32688" y="4023360"/>
            <a:ext cx="2916936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forms ask for a specialisation. A patient with chest tightness on the stairs does not know whether that is Cardiology or General Medicine.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70832" y="1874520"/>
            <a:ext cx="3502152" cy="3931920"/>
          </a:xfrm>
          <a:prstGeom prst="roundRect">
            <a:avLst>
              <a:gd name="adj" fmla="val 23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64748B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663440" y="2194560"/>
            <a:ext cx="685800" cy="685800"/>
          </a:xfrm>
          <a:prstGeom prst="ellipse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/home/claude/citycare/icons/blue/c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888" y="2350008"/>
            <a:ext cx="374904" cy="37490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095744" y="216712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E2E8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663440" y="3108960"/>
            <a:ext cx="291693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Urgency is discovered too late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663440" y="4023360"/>
            <a:ext cx="2916936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form treats "mild cough for a week" and "crushing chest pain right now" identically — both become a slot next Tuesday.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101584" y="1874520"/>
            <a:ext cx="3502152" cy="3931920"/>
          </a:xfrm>
          <a:prstGeom prst="roundRect">
            <a:avLst>
              <a:gd name="adj" fmla="val 23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64748B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8394192" y="2194560"/>
            <a:ext cx="685800" cy="685800"/>
          </a:xfrm>
          <a:prstGeom prst="ellipse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/home/claude/citycare/icons/blue/fileTex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9640" y="2350008"/>
            <a:ext cx="374904" cy="37490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826496" y="216712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E2E8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8394192" y="3108960"/>
            <a:ext cx="291693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Doctors walk in unprepared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8394192" y="4023360"/>
            <a:ext cx="2916936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reason-for-visit box says "not feeling well." History-taking starts from zero, inside a 20-minute appointment.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640080" y="59893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not UI problems — they are triage problems. The booking step is the first point where urgency could be caught, and traditional forms throw that information away.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67512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"my chest feels tight" to a confirmed appointment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729588" y="1691640"/>
            <a:ext cx="868680" cy="86868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citycare/icons/white/m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2468" y="1874520"/>
            <a:ext cx="502920" cy="502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323948" y="1600200"/>
            <a:ext cx="347472" cy="3474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2323948" y="16002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089508" y="269748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Speak or type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135228" y="3127248"/>
            <a:ext cx="2057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speech recognition; typing works identically</a:t>
            </a:r>
            <a:endParaRPr lang="en-US" sz="1050" dirty="0"/>
          </a:p>
        </p:txBody>
      </p:sp>
      <p:pic>
        <p:nvPicPr>
          <p:cNvPr id="10" name="Image 1" descr="/home/claude/citycare/icons/navy/arrow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8620" y="1997964"/>
            <a:ext cx="256032" cy="25603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695548" y="1691640"/>
            <a:ext cx="868680" cy="86868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/home/claude/citycare/icons/white/shie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8428" y="1874520"/>
            <a:ext cx="502920" cy="50292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4289908" y="1600200"/>
            <a:ext cx="347472" cy="3474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9"/>
          <p:cNvSpPr/>
          <p:nvPr/>
        </p:nvSpPr>
        <p:spPr>
          <a:xfrm>
            <a:off x="4289908" y="16002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3055468" y="269748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 check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3101188" y="3127248"/>
            <a:ext cx="2057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red-flag match, under 5 ms, before any AI</a:t>
            </a:r>
            <a:endParaRPr lang="en-US" sz="1050" dirty="0"/>
          </a:p>
        </p:txBody>
      </p:sp>
      <p:pic>
        <p:nvPicPr>
          <p:cNvPr id="17" name="Image 3" descr="/home/claude/citycare/icons/navy/arrow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4580" y="1997964"/>
            <a:ext cx="256032" cy="256032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5661508" y="1691640"/>
            <a:ext cx="868680" cy="868680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4" descr="/home/claude/citycare/icons/white/gitBranc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44388" y="1874520"/>
            <a:ext cx="502920" cy="502920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6255868" y="1600200"/>
            <a:ext cx="347472" cy="3474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4"/>
          <p:cNvSpPr/>
          <p:nvPr/>
        </p:nvSpPr>
        <p:spPr>
          <a:xfrm>
            <a:off x="6255868" y="16002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15"/>
          <p:cNvSpPr/>
          <p:nvPr/>
        </p:nvSpPr>
        <p:spPr>
          <a:xfrm>
            <a:off x="5021428" y="269748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Three-tier triage</a:t>
            </a:r>
            <a:endParaRPr lang="en-US" sz="1350" dirty="0"/>
          </a:p>
        </p:txBody>
      </p:sp>
      <p:sp>
        <p:nvSpPr>
          <p:cNvPr id="23" name="Text 16"/>
          <p:cNvSpPr/>
          <p:nvPr/>
        </p:nvSpPr>
        <p:spPr>
          <a:xfrm>
            <a:off x="5067148" y="3127248"/>
            <a:ext cx="2057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/ Urgent / Routine decides what happens next</a:t>
            </a:r>
            <a:endParaRPr lang="en-US" sz="1050" dirty="0"/>
          </a:p>
        </p:txBody>
      </p:sp>
      <p:pic>
        <p:nvPicPr>
          <p:cNvPr id="24" name="Image 5" descr="/home/claude/citycare/icons/navy/arrow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0540" y="1997964"/>
            <a:ext cx="256032" cy="256032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7627468" y="1691640"/>
            <a:ext cx="868680" cy="86868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6" descr="/home/claude/citycare/icons/white/clipboar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10348" y="1874520"/>
            <a:ext cx="502920" cy="502920"/>
          </a:xfrm>
          <a:prstGeom prst="rect">
            <a:avLst/>
          </a:prstGeom>
        </p:spPr>
      </p:pic>
      <p:sp>
        <p:nvSpPr>
          <p:cNvPr id="27" name="Shape 18"/>
          <p:cNvSpPr/>
          <p:nvPr/>
        </p:nvSpPr>
        <p:spPr>
          <a:xfrm>
            <a:off x="8221828" y="1600200"/>
            <a:ext cx="347472" cy="3474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19"/>
          <p:cNvSpPr/>
          <p:nvPr/>
        </p:nvSpPr>
        <p:spPr>
          <a:xfrm>
            <a:off x="8221828" y="16002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  <p:sp>
        <p:nvSpPr>
          <p:cNvPr id="29" name="Text 20"/>
          <p:cNvSpPr/>
          <p:nvPr/>
        </p:nvSpPr>
        <p:spPr>
          <a:xfrm>
            <a:off x="6987388" y="269748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Short intake</a:t>
            </a:r>
            <a:endParaRPr lang="en-US" sz="1350" dirty="0"/>
          </a:p>
        </p:txBody>
      </p:sp>
      <p:sp>
        <p:nvSpPr>
          <p:cNvPr id="30" name="Text 21"/>
          <p:cNvSpPr/>
          <p:nvPr/>
        </p:nvSpPr>
        <p:spPr>
          <a:xfrm>
            <a:off x="7033108" y="3127248"/>
            <a:ext cx="2057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3 focused questions, one at a time</a:t>
            </a:r>
            <a:endParaRPr lang="en-US" sz="1050" dirty="0"/>
          </a:p>
        </p:txBody>
      </p:sp>
      <p:pic>
        <p:nvPicPr>
          <p:cNvPr id="31" name="Image 7" descr="/home/claude/citycare/icons/navy/arrow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6500" y="1997964"/>
            <a:ext cx="256032" cy="256032"/>
          </a:xfrm>
          <a:prstGeom prst="rect">
            <a:avLst/>
          </a:prstGeom>
        </p:spPr>
      </p:pic>
      <p:sp>
        <p:nvSpPr>
          <p:cNvPr id="32" name="Shape 22"/>
          <p:cNvSpPr/>
          <p:nvPr/>
        </p:nvSpPr>
        <p:spPr>
          <a:xfrm>
            <a:off x="9593428" y="1691640"/>
            <a:ext cx="868680" cy="86868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3" name="Image 8" descr="/home/claude/citycare/icons/white/checkCircl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76308" y="1874520"/>
            <a:ext cx="502920" cy="502920"/>
          </a:xfrm>
          <a:prstGeom prst="rect">
            <a:avLst/>
          </a:prstGeom>
        </p:spPr>
      </p:pic>
      <p:sp>
        <p:nvSpPr>
          <p:cNvPr id="34" name="Shape 23"/>
          <p:cNvSpPr/>
          <p:nvPr/>
        </p:nvSpPr>
        <p:spPr>
          <a:xfrm>
            <a:off x="10187788" y="1600200"/>
            <a:ext cx="347472" cy="3474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24"/>
          <p:cNvSpPr/>
          <p:nvPr/>
        </p:nvSpPr>
        <p:spPr>
          <a:xfrm>
            <a:off x="10187788" y="16002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100" dirty="0"/>
          </a:p>
        </p:txBody>
      </p:sp>
      <p:sp>
        <p:nvSpPr>
          <p:cNvPr id="36" name="Text 25"/>
          <p:cNvSpPr/>
          <p:nvPr/>
        </p:nvSpPr>
        <p:spPr>
          <a:xfrm>
            <a:off x="8953348" y="269748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Confirmed booking</a:t>
            </a:r>
            <a:endParaRPr lang="en-US" sz="1350" dirty="0"/>
          </a:p>
        </p:txBody>
      </p:sp>
      <p:sp>
        <p:nvSpPr>
          <p:cNvPr id="37" name="Text 26"/>
          <p:cNvSpPr/>
          <p:nvPr/>
        </p:nvSpPr>
        <p:spPr>
          <a:xfrm>
            <a:off x="8999068" y="3127248"/>
            <a:ext cx="2057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reserved atomically and visible immediately</a:t>
            </a:r>
            <a:endParaRPr lang="en-US" sz="1050" dirty="0"/>
          </a:p>
        </p:txBody>
      </p:sp>
      <p:sp>
        <p:nvSpPr>
          <p:cNvPr id="38" name="Shape 27"/>
          <p:cNvSpPr/>
          <p:nvPr/>
        </p:nvSpPr>
        <p:spPr>
          <a:xfrm>
            <a:off x="640080" y="4160520"/>
            <a:ext cx="10908792" cy="1691640"/>
          </a:xfrm>
          <a:prstGeom prst="roundRect">
            <a:avLst>
              <a:gd name="adj" fmla="val 4865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28"/>
          <p:cNvSpPr/>
          <p:nvPr/>
        </p:nvSpPr>
        <p:spPr>
          <a:xfrm>
            <a:off x="960120" y="4480560"/>
            <a:ext cx="777240" cy="777240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0" name="Image 9" descr="/home/claude/citycare/icons/white/alertTriangl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33856" y="4654296"/>
            <a:ext cx="429768" cy="429768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1965960" y="4416552"/>
            <a:ext cx="9052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Critical → Emergency path</a:t>
            </a:r>
            <a:endParaRPr lang="en-US" sz="1500" dirty="0"/>
          </a:p>
        </p:txBody>
      </p:sp>
      <p:sp>
        <p:nvSpPr>
          <p:cNvPr id="42" name="Text 30"/>
          <p:cNvSpPr/>
          <p:nvPr/>
        </p:nvSpPr>
        <p:spPr>
          <a:xfrm>
            <a:off x="1965960" y="4818888"/>
            <a:ext cx="9281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numbers on screen instantly, on-call doctor paged by email, ambulance need recorded, urgent case created at the nearest hospital with an emergency department. The conversation stays open.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PORTALS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67512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platform, three separate experiences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3502152" cy="4709160"/>
          </a:xfrm>
          <a:prstGeom prst="roundRect">
            <a:avLst>
              <a:gd name="adj" fmla="val 23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64748B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627632"/>
            <a:ext cx="3502152" cy="777240"/>
          </a:xfrm>
          <a:prstGeom prst="roundRect">
            <a:avLst>
              <a:gd name="adj" fmla="val 10588"/>
            </a:avLst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3502152" cy="393192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96112" y="1773936"/>
            <a:ext cx="502920" cy="502920"/>
          </a:xfrm>
          <a:prstGeom prst="ellipse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/home/claude/citycare/icons/white/he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883664"/>
            <a:ext cx="283464" cy="28346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54480" y="1792224"/>
            <a:ext cx="2404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</a:t>
            </a:r>
            <a:endParaRPr lang="en-US" sz="1700" dirty="0"/>
          </a:p>
        </p:txBody>
      </p:sp>
      <p:pic>
        <p:nvPicPr>
          <p:cNvPr id="10" name="Image 1" descr="/home/claude/citycare/icons/blue/check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2642616"/>
            <a:ext cx="155448" cy="1554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43000" y="2560320"/>
            <a:ext cx="27249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by voice or by typing</a:t>
            </a:r>
            <a:endParaRPr lang="en-US" sz="1080" dirty="0"/>
          </a:p>
        </p:txBody>
      </p:sp>
      <p:pic>
        <p:nvPicPr>
          <p:cNvPr id="12" name="Image 2" descr="/home/claude/citycare/icons/blue/check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3264408"/>
            <a:ext cx="155448" cy="15544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43000" y="3182112"/>
            <a:ext cx="27249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View, cancel and reschedule appointments</a:t>
            </a:r>
            <a:endParaRPr lang="en-US" sz="1080" dirty="0"/>
          </a:p>
        </p:txBody>
      </p:sp>
      <p:pic>
        <p:nvPicPr>
          <p:cNvPr id="14" name="Image 3" descr="/home/claude/citycare/icons/blue/check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3886200"/>
            <a:ext cx="155448" cy="15544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143000" y="3803904"/>
            <a:ext cx="27249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visit summaries after a doctor approves them</a:t>
            </a:r>
            <a:endParaRPr lang="en-US" sz="1080" dirty="0"/>
          </a:p>
        </p:txBody>
      </p:sp>
      <p:pic>
        <p:nvPicPr>
          <p:cNvPr id="16" name="Image 4" descr="/home/claude/citycare/icons/blue/check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4507992"/>
            <a:ext cx="155448" cy="15544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143000" y="4425696"/>
            <a:ext cx="27249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Medication schedule and reminders</a:t>
            </a:r>
            <a:endParaRPr lang="en-US" sz="1080" dirty="0"/>
          </a:p>
        </p:txBody>
      </p:sp>
      <p:pic>
        <p:nvPicPr>
          <p:cNvPr id="18" name="Image 5" descr="/home/claude/citycare/icons/blue/check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5129784"/>
            <a:ext cx="155448" cy="15544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143000" y="5047488"/>
            <a:ext cx="27249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Google Calendar</a:t>
            </a:r>
            <a:endParaRPr lang="en-US" sz="1080" dirty="0"/>
          </a:p>
        </p:txBody>
      </p:sp>
      <p:sp>
        <p:nvSpPr>
          <p:cNvPr id="20" name="Shape 12"/>
          <p:cNvSpPr/>
          <p:nvPr/>
        </p:nvSpPr>
        <p:spPr>
          <a:xfrm>
            <a:off x="4370832" y="1627632"/>
            <a:ext cx="3502152" cy="4709160"/>
          </a:xfrm>
          <a:prstGeom prst="roundRect">
            <a:avLst>
              <a:gd name="adj" fmla="val 23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64748B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3"/>
          <p:cNvSpPr/>
          <p:nvPr/>
        </p:nvSpPr>
        <p:spPr>
          <a:xfrm>
            <a:off x="4370832" y="1627632"/>
            <a:ext cx="3502152" cy="777240"/>
          </a:xfrm>
          <a:prstGeom prst="roundRect">
            <a:avLst>
              <a:gd name="adj" fmla="val 10588"/>
            </a:avLst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4"/>
          <p:cNvSpPr/>
          <p:nvPr/>
        </p:nvSpPr>
        <p:spPr>
          <a:xfrm>
            <a:off x="4370832" y="2011680"/>
            <a:ext cx="3502152" cy="393192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15"/>
          <p:cNvSpPr/>
          <p:nvPr/>
        </p:nvSpPr>
        <p:spPr>
          <a:xfrm>
            <a:off x="4626864" y="1773936"/>
            <a:ext cx="502920" cy="502920"/>
          </a:xfrm>
          <a:prstGeom prst="ellipse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6" descr="/home/claude/citycare/icons/white/user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6592" y="1883664"/>
            <a:ext cx="283464" cy="283464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5285232" y="1792224"/>
            <a:ext cx="2404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Doctor</a:t>
            </a:r>
            <a:endParaRPr lang="en-US" sz="1700" dirty="0"/>
          </a:p>
        </p:txBody>
      </p:sp>
      <p:pic>
        <p:nvPicPr>
          <p:cNvPr id="26" name="Image 7" descr="/home/claude/citycare/icons/blue/check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6864" y="2642616"/>
            <a:ext cx="155448" cy="155448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4873752" y="2560320"/>
            <a:ext cx="27249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schedule and upcoming appointments</a:t>
            </a:r>
            <a:endParaRPr lang="en-US" sz="1080" dirty="0"/>
          </a:p>
        </p:txBody>
      </p:sp>
      <p:pic>
        <p:nvPicPr>
          <p:cNvPr id="28" name="Image 8" descr="/home/claude/citycare/icons/blue/check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6864" y="3264408"/>
            <a:ext cx="155448" cy="155448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4873752" y="3182112"/>
            <a:ext cx="27249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Pre-visit summary: complaint, history, suggested questions</a:t>
            </a:r>
            <a:endParaRPr lang="en-US" sz="1080" dirty="0"/>
          </a:p>
        </p:txBody>
      </p:sp>
      <p:pic>
        <p:nvPicPr>
          <p:cNvPr id="30" name="Image 9" descr="/home/claude/citycare/icons/blue/check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6864" y="3886200"/>
            <a:ext cx="155448" cy="155448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4873752" y="3803904"/>
            <a:ext cx="27249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clinical notes and prescriptions</a:t>
            </a:r>
            <a:endParaRPr lang="en-US" sz="1080" dirty="0"/>
          </a:p>
        </p:txBody>
      </p:sp>
      <p:pic>
        <p:nvPicPr>
          <p:cNvPr id="32" name="Image 10" descr="/home/claude/citycare/icons/blue/check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6864" y="4507992"/>
            <a:ext cx="155448" cy="155448"/>
          </a:xfrm>
          <a:prstGeom prst="rect">
            <a:avLst/>
          </a:prstGeom>
        </p:spPr>
      </p:pic>
      <p:sp>
        <p:nvSpPr>
          <p:cNvPr id="33" name="Text 20"/>
          <p:cNvSpPr/>
          <p:nvPr/>
        </p:nvSpPr>
        <p:spPr>
          <a:xfrm>
            <a:off x="4873752" y="4425696"/>
            <a:ext cx="27249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Review, edit or reject AI-drafted summaries</a:t>
            </a:r>
            <a:endParaRPr lang="en-US" sz="1080" dirty="0"/>
          </a:p>
        </p:txBody>
      </p:sp>
      <p:pic>
        <p:nvPicPr>
          <p:cNvPr id="34" name="Image 11" descr="/home/claude/citycare/icons/blue/check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6864" y="5129784"/>
            <a:ext cx="155448" cy="155448"/>
          </a:xfrm>
          <a:prstGeom prst="rect">
            <a:avLst/>
          </a:prstGeom>
        </p:spPr>
      </p:pic>
      <p:sp>
        <p:nvSpPr>
          <p:cNvPr id="35" name="Text 21"/>
          <p:cNvSpPr/>
          <p:nvPr/>
        </p:nvSpPr>
        <p:spPr>
          <a:xfrm>
            <a:off x="4873752" y="5047488"/>
            <a:ext cx="27249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queue with an acknowledgement gate</a:t>
            </a:r>
            <a:endParaRPr lang="en-US" sz="1080" dirty="0"/>
          </a:p>
        </p:txBody>
      </p:sp>
      <p:pic>
        <p:nvPicPr>
          <p:cNvPr id="36" name="Image 12" descr="/home/claude/citycare/icons/blue/check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6864" y="5751576"/>
            <a:ext cx="155448" cy="155448"/>
          </a:xfrm>
          <a:prstGeom prst="rect">
            <a:avLst/>
          </a:prstGeom>
        </p:spPr>
      </p:pic>
      <p:sp>
        <p:nvSpPr>
          <p:cNvPr id="37" name="Text 22"/>
          <p:cNvSpPr/>
          <p:nvPr/>
        </p:nvSpPr>
        <p:spPr>
          <a:xfrm>
            <a:off x="4873752" y="5669280"/>
            <a:ext cx="27249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leave with an impact preview</a:t>
            </a:r>
            <a:endParaRPr lang="en-US" sz="1080" dirty="0"/>
          </a:p>
        </p:txBody>
      </p:sp>
      <p:sp>
        <p:nvSpPr>
          <p:cNvPr id="38" name="Shape 23"/>
          <p:cNvSpPr/>
          <p:nvPr/>
        </p:nvSpPr>
        <p:spPr>
          <a:xfrm>
            <a:off x="8101584" y="1627632"/>
            <a:ext cx="3502152" cy="4709160"/>
          </a:xfrm>
          <a:prstGeom prst="roundRect">
            <a:avLst>
              <a:gd name="adj" fmla="val 23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64748B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24"/>
          <p:cNvSpPr/>
          <p:nvPr/>
        </p:nvSpPr>
        <p:spPr>
          <a:xfrm>
            <a:off x="8101584" y="1627632"/>
            <a:ext cx="3502152" cy="777240"/>
          </a:xfrm>
          <a:prstGeom prst="roundRect">
            <a:avLst>
              <a:gd name="adj" fmla="val 10588"/>
            </a:avLst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25"/>
          <p:cNvSpPr/>
          <p:nvPr/>
        </p:nvSpPr>
        <p:spPr>
          <a:xfrm>
            <a:off x="8101584" y="2011680"/>
            <a:ext cx="3502152" cy="393192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26"/>
          <p:cNvSpPr/>
          <p:nvPr/>
        </p:nvSpPr>
        <p:spPr>
          <a:xfrm>
            <a:off x="8357616" y="1773936"/>
            <a:ext cx="502920" cy="502920"/>
          </a:xfrm>
          <a:prstGeom prst="ellipse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2" name="Image 13" descr="/home/claude/citycare/icons/white/setting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7344" y="1883664"/>
            <a:ext cx="283464" cy="283464"/>
          </a:xfrm>
          <a:prstGeom prst="rect">
            <a:avLst/>
          </a:prstGeom>
        </p:spPr>
      </p:pic>
      <p:sp>
        <p:nvSpPr>
          <p:cNvPr id="43" name="Text 27"/>
          <p:cNvSpPr/>
          <p:nvPr/>
        </p:nvSpPr>
        <p:spPr>
          <a:xfrm>
            <a:off x="9015984" y="1792224"/>
            <a:ext cx="2404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Administrator</a:t>
            </a:r>
            <a:endParaRPr lang="en-US" sz="1700" dirty="0"/>
          </a:p>
        </p:txBody>
      </p:sp>
      <p:pic>
        <p:nvPicPr>
          <p:cNvPr id="44" name="Image 14" descr="/home/claude/citycare/icons/blue/check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7616" y="2642616"/>
            <a:ext cx="155448" cy="155448"/>
          </a:xfrm>
          <a:prstGeom prst="rect">
            <a:avLst/>
          </a:prstGeom>
        </p:spPr>
      </p:pic>
      <p:sp>
        <p:nvSpPr>
          <p:cNvPr id="45" name="Text 28"/>
          <p:cNvSpPr/>
          <p:nvPr/>
        </p:nvSpPr>
        <p:spPr>
          <a:xfrm>
            <a:off x="8604504" y="2560320"/>
            <a:ext cx="27249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accounts and working-hours editor</a:t>
            </a:r>
            <a:endParaRPr lang="en-US" sz="1080" dirty="0"/>
          </a:p>
        </p:txBody>
      </p:sp>
      <p:pic>
        <p:nvPicPr>
          <p:cNvPr id="46" name="Image 15" descr="/home/claude/citycare/icons/blue/check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7616" y="3264408"/>
            <a:ext cx="155448" cy="155448"/>
          </a:xfrm>
          <a:prstGeom prst="rect">
            <a:avLst/>
          </a:prstGeom>
        </p:spPr>
      </p:pic>
      <p:sp>
        <p:nvSpPr>
          <p:cNvPr id="47" name="Text 29"/>
          <p:cNvSpPr/>
          <p:nvPr/>
        </p:nvSpPr>
        <p:spPr>
          <a:xfrm>
            <a:off x="8604504" y="3182112"/>
            <a:ext cx="27249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</a:t>
            </a:r>
            <a:endParaRPr lang="en-US" sz="1080" dirty="0"/>
          </a:p>
        </p:txBody>
      </p:sp>
      <p:pic>
        <p:nvPicPr>
          <p:cNvPr id="48" name="Image 16" descr="/home/claude/citycare/icons/blue/check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7616" y="3886200"/>
            <a:ext cx="155448" cy="155448"/>
          </a:xfrm>
          <a:prstGeom prst="rect">
            <a:avLst/>
          </a:prstGeom>
        </p:spPr>
      </p:pic>
      <p:sp>
        <p:nvSpPr>
          <p:cNvPr id="49" name="Text 30"/>
          <p:cNvSpPr/>
          <p:nvPr/>
        </p:nvSpPr>
        <p:spPr>
          <a:xfrm>
            <a:off x="8604504" y="3803904"/>
            <a:ext cx="27249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approval showing affected appointments</a:t>
            </a:r>
            <a:endParaRPr lang="en-US" sz="1080" dirty="0"/>
          </a:p>
        </p:txBody>
      </p:sp>
      <p:pic>
        <p:nvPicPr>
          <p:cNvPr id="50" name="Image 17" descr="/home/claude/citycare/icons/blue/check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7616" y="4507992"/>
            <a:ext cx="155448" cy="155448"/>
          </a:xfrm>
          <a:prstGeom prst="rect">
            <a:avLst/>
          </a:prstGeom>
        </p:spPr>
      </p:pic>
      <p:sp>
        <p:nvSpPr>
          <p:cNvPr id="51" name="Text 31"/>
          <p:cNvSpPr/>
          <p:nvPr/>
        </p:nvSpPr>
        <p:spPr>
          <a:xfrm>
            <a:off x="8604504" y="4425696"/>
            <a:ext cx="27249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 upload and re-indexing</a:t>
            </a:r>
            <a:endParaRPr lang="en-US" sz="1080" dirty="0"/>
          </a:p>
        </p:txBody>
      </p:sp>
      <p:pic>
        <p:nvPicPr>
          <p:cNvPr id="52" name="Image 18" descr="/home/claude/citycare/icons/blue/check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7616" y="5129784"/>
            <a:ext cx="155448" cy="155448"/>
          </a:xfrm>
          <a:prstGeom prst="rect">
            <a:avLst/>
          </a:prstGeom>
        </p:spPr>
      </p:pic>
      <p:sp>
        <p:nvSpPr>
          <p:cNvPr id="53" name="Text 32"/>
          <p:cNvSpPr/>
          <p:nvPr/>
        </p:nvSpPr>
        <p:spPr>
          <a:xfrm>
            <a:off x="8604504" y="5047488"/>
            <a:ext cx="27249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health: latency, LLM quota, email backlog, red-flag rate</a:t>
            </a:r>
            <a:endParaRPr lang="en-US" sz="10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AND 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67512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decisions that matter are not left to the model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566928" cy="566928"/>
          </a:xfrm>
          <a:prstGeom prst="ellipse">
            <a:avLst/>
          </a:prstGeom>
          <a:solidFill>
            <a:srgbClr val="FEF2F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citycare/icons/red/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1755648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53312" y="1600200"/>
            <a:ext cx="46360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Emergency detection runs first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353312" y="1975104"/>
            <a:ext cx="4636008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Phrase matching with negation handling, before any AI call. "The chest pain stopped yesterday" does not trigger; "crushing chest pain radiating to my arm" does, on the first sentence.</a:t>
            </a:r>
            <a:endParaRPr lang="en-US" sz="1080" dirty="0"/>
          </a:p>
        </p:txBody>
      </p:sp>
      <p:sp>
        <p:nvSpPr>
          <p:cNvPr id="8" name="Shape 5"/>
          <p:cNvSpPr/>
          <p:nvPr/>
        </p:nvSpPr>
        <p:spPr>
          <a:xfrm>
            <a:off x="6309360" y="1627632"/>
            <a:ext cx="566928" cy="566928"/>
          </a:xfrm>
          <a:prstGeom prst="ellipse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/home/claude/citycare/icons/blue/gitBran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7376" y="1755648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022592" y="1600200"/>
            <a:ext cx="46360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severity tiers, not keywords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7022592" y="1975104"/>
            <a:ext cx="4636008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"Chest pain once a day for months" is urgent, not critical — it gets questions, not an alarm. Constant false alarms teach people to ignore real ones.</a:t>
            </a:r>
            <a:endParaRPr lang="en-US" sz="1080" dirty="0"/>
          </a:p>
        </p:txBody>
      </p:sp>
      <p:sp>
        <p:nvSpPr>
          <p:cNvPr id="12" name="Shape 8"/>
          <p:cNvSpPr/>
          <p:nvPr/>
        </p:nvSpPr>
        <p:spPr>
          <a:xfrm>
            <a:off x="640080" y="3200400"/>
            <a:ext cx="566928" cy="566928"/>
          </a:xfrm>
          <a:prstGeom prst="ellipse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/home/claude/citycare/icons/blue/datab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" y="3328416"/>
            <a:ext cx="310896" cy="31089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53312" y="3172968"/>
            <a:ext cx="46360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database prevents double booking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1353312" y="3547872"/>
            <a:ext cx="4636008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Postgres exclusion constraint, not application logic. Verified by a test that races 50 concurrent requests for one slot: exactly one wins.</a:t>
            </a:r>
            <a:endParaRPr lang="en-US" sz="1080" dirty="0"/>
          </a:p>
        </p:txBody>
      </p:sp>
      <p:sp>
        <p:nvSpPr>
          <p:cNvPr id="16" name="Shape 11"/>
          <p:cNvSpPr/>
          <p:nvPr/>
        </p:nvSpPr>
        <p:spPr>
          <a:xfrm>
            <a:off x="6309360" y="3200400"/>
            <a:ext cx="566928" cy="566928"/>
          </a:xfrm>
          <a:prstGeom prst="ellipse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3" descr="/home/claude/citycare/icons/blue/eyeO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7376" y="3328416"/>
            <a:ext cx="310896" cy="31089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022592" y="3172968"/>
            <a:ext cx="46360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AI never diagnoses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7022592" y="3547872"/>
            <a:ext cx="4636008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output guard blocks diagnostic and prescriptive language. No AI-written clinical content reaches a patient without a doctor approving it.</a:t>
            </a:r>
            <a:endParaRPr lang="en-US" sz="1080" dirty="0"/>
          </a:p>
        </p:txBody>
      </p:sp>
      <p:sp>
        <p:nvSpPr>
          <p:cNvPr id="20" name="Shape 14"/>
          <p:cNvSpPr/>
          <p:nvPr/>
        </p:nvSpPr>
        <p:spPr>
          <a:xfrm>
            <a:off x="640080" y="4773168"/>
            <a:ext cx="566928" cy="566928"/>
          </a:xfrm>
          <a:prstGeom prst="ellipse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4" descr="/home/claude/citycare/icons/blue/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8096" y="4901184"/>
            <a:ext cx="310896" cy="31089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353312" y="4745736"/>
            <a:ext cx="46360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Identity is masked before AI calls</a:t>
            </a:r>
            <a:endParaRPr lang="en-US" sz="1350" dirty="0"/>
          </a:p>
        </p:txBody>
      </p:sp>
      <p:sp>
        <p:nvSpPr>
          <p:cNvPr id="23" name="Text 16"/>
          <p:cNvSpPr/>
          <p:nvPr/>
        </p:nvSpPr>
        <p:spPr>
          <a:xfrm>
            <a:off x="1353312" y="5120640"/>
            <a:ext cx="4636008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Names, phone numbers and emails are replaced with placeholders and restored afterwards. The model sees symptoms, not people.</a:t>
            </a:r>
            <a:endParaRPr lang="en-US" sz="1080" dirty="0"/>
          </a:p>
        </p:txBody>
      </p:sp>
      <p:sp>
        <p:nvSpPr>
          <p:cNvPr id="24" name="Shape 17"/>
          <p:cNvSpPr/>
          <p:nvPr/>
        </p:nvSpPr>
        <p:spPr>
          <a:xfrm>
            <a:off x="6309360" y="4773168"/>
            <a:ext cx="566928" cy="566928"/>
          </a:xfrm>
          <a:prstGeom prst="ellipse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5" descr="/home/claude/citycare/icons/blue/repea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37376" y="4901184"/>
            <a:ext cx="310896" cy="310896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022592" y="4745736"/>
            <a:ext cx="46360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Graceful degradation everywhere</a:t>
            </a:r>
            <a:endParaRPr lang="en-US" sz="1350" dirty="0"/>
          </a:p>
        </p:txBody>
      </p:sp>
      <p:sp>
        <p:nvSpPr>
          <p:cNvPr id="27" name="Text 19"/>
          <p:cNvSpPr/>
          <p:nvPr/>
        </p:nvSpPr>
        <p:spPr>
          <a:xfrm>
            <a:off x="7022592" y="5120640"/>
            <a:ext cx="4636008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AI providers with automatic failover and circuit breakers. If all fail, emergency handling and booking still work.</a:t>
            </a:r>
            <a:endParaRPr lang="en-US" sz="10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67512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to run anywhere, including free tiers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349240" cy="4709160"/>
          </a:xfrm>
          <a:prstGeom prst="roundRect">
            <a:avLst>
              <a:gd name="adj" fmla="val 1748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60120" y="1856232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960120" y="2313432"/>
            <a:ext cx="457200" cy="457200"/>
          </a:xfrm>
          <a:prstGeom prst="ellipse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citycare/icons/white/la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" y="2423160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2276856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554480" y="2551176"/>
            <a:ext cx="4160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18, TypeScript, Tailwind CSS, Vite</a:t>
            </a:r>
            <a:endParaRPr lang="en-US" sz="1030" dirty="0"/>
          </a:p>
        </p:txBody>
      </p:sp>
      <p:sp>
        <p:nvSpPr>
          <p:cNvPr id="10" name="Shape 7"/>
          <p:cNvSpPr/>
          <p:nvPr/>
        </p:nvSpPr>
        <p:spPr>
          <a:xfrm>
            <a:off x="960120" y="2953512"/>
            <a:ext cx="457200" cy="457200"/>
          </a:xfrm>
          <a:prstGeom prst="ellipse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/home/claude/citycare/icons/white/serv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848" y="3063240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54480" y="2916936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1554480" y="3191256"/>
            <a:ext cx="4160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FastAPI, Python 3.11, async SQLAlchemy</a:t>
            </a:r>
            <a:endParaRPr lang="en-US" sz="1030" dirty="0"/>
          </a:p>
        </p:txBody>
      </p:sp>
      <p:sp>
        <p:nvSpPr>
          <p:cNvPr id="14" name="Shape 10"/>
          <p:cNvSpPr/>
          <p:nvPr/>
        </p:nvSpPr>
        <p:spPr>
          <a:xfrm>
            <a:off x="960120" y="3593592"/>
            <a:ext cx="457200" cy="457200"/>
          </a:xfrm>
          <a:prstGeom prst="ellipse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/home/claude/citycare/icons/white/datab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9848" y="3703320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554480" y="3557016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1554480" y="3831336"/>
            <a:ext cx="4160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with pgvector</a:t>
            </a:r>
            <a:endParaRPr lang="en-US" sz="1030" dirty="0"/>
          </a:p>
        </p:txBody>
      </p:sp>
      <p:sp>
        <p:nvSpPr>
          <p:cNvPr id="18" name="Shape 13"/>
          <p:cNvSpPr/>
          <p:nvPr/>
        </p:nvSpPr>
        <p:spPr>
          <a:xfrm>
            <a:off x="960120" y="4233672"/>
            <a:ext cx="457200" cy="457200"/>
          </a:xfrm>
          <a:prstGeom prst="ellipse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3" descr="/home/claude/citycare/icons/white/mi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9848" y="4343400"/>
            <a:ext cx="237744" cy="23774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554480" y="4197096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Voice</a:t>
            </a:r>
            <a:endParaRPr lang="en-US" sz="1250" dirty="0"/>
          </a:p>
        </p:txBody>
      </p:sp>
      <p:sp>
        <p:nvSpPr>
          <p:cNvPr id="21" name="Text 15"/>
          <p:cNvSpPr/>
          <p:nvPr/>
        </p:nvSpPr>
        <p:spPr>
          <a:xfrm>
            <a:off x="1554480" y="4471416"/>
            <a:ext cx="4160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Web Speech API (recognition and synthesis)</a:t>
            </a:r>
            <a:endParaRPr lang="en-US" sz="1030" dirty="0"/>
          </a:p>
        </p:txBody>
      </p:sp>
      <p:sp>
        <p:nvSpPr>
          <p:cNvPr id="22" name="Shape 16"/>
          <p:cNvSpPr/>
          <p:nvPr/>
        </p:nvSpPr>
        <p:spPr>
          <a:xfrm>
            <a:off x="960120" y="4873752"/>
            <a:ext cx="457200" cy="457200"/>
          </a:xfrm>
          <a:prstGeom prst="ellipse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4" descr="/home/claude/citycare/icons/white/cpu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9848" y="4983480"/>
            <a:ext cx="237744" cy="23774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554480" y="4837176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</a:t>
            </a:r>
            <a:endParaRPr lang="en-US" sz="1250" dirty="0"/>
          </a:p>
        </p:txBody>
      </p:sp>
      <p:sp>
        <p:nvSpPr>
          <p:cNvPr id="25" name="Text 18"/>
          <p:cNvSpPr/>
          <p:nvPr/>
        </p:nvSpPr>
        <p:spPr>
          <a:xfrm>
            <a:off x="1554480" y="5111496"/>
            <a:ext cx="4160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Groq, Gemini, Cerebras and Ollama behind one router</a:t>
            </a:r>
            <a:endParaRPr lang="en-US" sz="1030" dirty="0"/>
          </a:p>
        </p:txBody>
      </p:sp>
      <p:sp>
        <p:nvSpPr>
          <p:cNvPr id="26" name="Shape 19"/>
          <p:cNvSpPr/>
          <p:nvPr/>
        </p:nvSpPr>
        <p:spPr>
          <a:xfrm>
            <a:off x="960120" y="5513832"/>
            <a:ext cx="457200" cy="457200"/>
          </a:xfrm>
          <a:prstGeom prst="ellipse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5" descr="/home/claude/citycare/icons/white/search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9848" y="5623560"/>
            <a:ext cx="237744" cy="237744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554480" y="5477256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</a:t>
            </a:r>
            <a:endParaRPr lang="en-US" sz="1250" dirty="0"/>
          </a:p>
        </p:txBody>
      </p:sp>
      <p:sp>
        <p:nvSpPr>
          <p:cNvPr id="29" name="Text 21"/>
          <p:cNvSpPr/>
          <p:nvPr/>
        </p:nvSpPr>
        <p:spPr>
          <a:xfrm>
            <a:off x="1554480" y="5751576"/>
            <a:ext cx="4160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semantic + keyword retrieval over 115 chunks</a:t>
            </a:r>
            <a:endParaRPr lang="en-US" sz="1030" dirty="0"/>
          </a:p>
        </p:txBody>
      </p:sp>
      <p:sp>
        <p:nvSpPr>
          <p:cNvPr id="30" name="Shape 22"/>
          <p:cNvSpPr/>
          <p:nvPr/>
        </p:nvSpPr>
        <p:spPr>
          <a:xfrm>
            <a:off x="6199632" y="1600200"/>
            <a:ext cx="5349240" cy="27432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3"/>
          <p:cNvSpPr/>
          <p:nvPr/>
        </p:nvSpPr>
        <p:spPr>
          <a:xfrm>
            <a:off x="6519672" y="1819656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IN FOUR STEPS</a:t>
            </a:r>
            <a:endParaRPr lang="en-US" sz="1150" dirty="0"/>
          </a:p>
        </p:txBody>
      </p:sp>
      <p:sp>
        <p:nvSpPr>
          <p:cNvPr id="32" name="Shape 24"/>
          <p:cNvSpPr/>
          <p:nvPr/>
        </p:nvSpPr>
        <p:spPr>
          <a:xfrm>
            <a:off x="6519672" y="2258568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5"/>
          <p:cNvSpPr/>
          <p:nvPr/>
        </p:nvSpPr>
        <p:spPr>
          <a:xfrm>
            <a:off x="6519672" y="22585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6976872" y="2267712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 .env.example .env  (add one AI provider key)</a:t>
            </a:r>
            <a:endParaRPr lang="en-US" sz="1080" dirty="0"/>
          </a:p>
        </p:txBody>
      </p:sp>
      <p:sp>
        <p:nvSpPr>
          <p:cNvPr id="35" name="Shape 27"/>
          <p:cNvSpPr/>
          <p:nvPr/>
        </p:nvSpPr>
        <p:spPr>
          <a:xfrm>
            <a:off x="6519672" y="2743200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28"/>
          <p:cNvSpPr/>
          <p:nvPr/>
        </p:nvSpPr>
        <p:spPr>
          <a:xfrm>
            <a:off x="6519672" y="27432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37" name="Text 29"/>
          <p:cNvSpPr/>
          <p:nvPr/>
        </p:nvSpPr>
        <p:spPr>
          <a:xfrm>
            <a:off x="6976872" y="2752344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up -d</a:t>
            </a:r>
            <a:endParaRPr lang="en-US" sz="1080" dirty="0"/>
          </a:p>
        </p:txBody>
      </p:sp>
      <p:sp>
        <p:nvSpPr>
          <p:cNvPr id="38" name="Shape 30"/>
          <p:cNvSpPr/>
          <p:nvPr/>
        </p:nvSpPr>
        <p:spPr>
          <a:xfrm>
            <a:off x="6519672" y="3227832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1"/>
          <p:cNvSpPr/>
          <p:nvPr/>
        </p:nvSpPr>
        <p:spPr>
          <a:xfrm>
            <a:off x="6519672" y="32278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40" name="Text 32"/>
          <p:cNvSpPr/>
          <p:nvPr/>
        </p:nvSpPr>
        <p:spPr>
          <a:xfrm>
            <a:off x="6976872" y="3236976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bash deploy/setup-database.sh '&lt;database-url&gt;'</a:t>
            </a:r>
            <a:endParaRPr lang="en-US" sz="1080" dirty="0"/>
          </a:p>
        </p:txBody>
      </p:sp>
      <p:sp>
        <p:nvSpPr>
          <p:cNvPr id="41" name="Shape 33"/>
          <p:cNvSpPr/>
          <p:nvPr/>
        </p:nvSpPr>
        <p:spPr>
          <a:xfrm>
            <a:off x="6519672" y="3712464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4"/>
          <p:cNvSpPr/>
          <p:nvPr/>
        </p:nvSpPr>
        <p:spPr>
          <a:xfrm>
            <a:off x="6519672" y="371246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43" name="Text 35"/>
          <p:cNvSpPr/>
          <p:nvPr/>
        </p:nvSpPr>
        <p:spPr>
          <a:xfrm>
            <a:off x="6976872" y="3721608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http://localhost:5173</a:t>
            </a:r>
            <a:endParaRPr lang="en-US" sz="1080" dirty="0"/>
          </a:p>
        </p:txBody>
      </p:sp>
      <p:sp>
        <p:nvSpPr>
          <p:cNvPr id="44" name="Shape 36"/>
          <p:cNvSpPr/>
          <p:nvPr/>
        </p:nvSpPr>
        <p:spPr>
          <a:xfrm>
            <a:off x="6199632" y="4526280"/>
            <a:ext cx="5349240" cy="914400"/>
          </a:xfrm>
          <a:prstGeom prst="roundRect">
            <a:avLst>
              <a:gd name="adj" fmla="val 9000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37"/>
          <p:cNvSpPr/>
          <p:nvPr/>
        </p:nvSpPr>
        <p:spPr>
          <a:xfrm>
            <a:off x="6519672" y="4654296"/>
            <a:ext cx="4709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LOGINS</a:t>
            </a: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Password for all: DevPass123!</a:t>
            </a:r>
            <a:endParaRPr lang="en-US" sz="1050" dirty="0"/>
          </a:p>
        </p:txBody>
      </p:sp>
      <p:sp>
        <p:nvSpPr>
          <p:cNvPr id="46" name="Text 38"/>
          <p:cNvSpPr/>
          <p:nvPr/>
        </p:nvSpPr>
        <p:spPr>
          <a:xfrm>
            <a:off x="6519672" y="4946904"/>
            <a:ext cx="47091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Patient </a:t>
            </a: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aditya.sharma@example.com</a:t>
            </a:r>
            <a:endParaRPr lang="en-US" sz="950" dirty="0"/>
          </a:p>
        </p:txBody>
      </p:sp>
      <p:sp>
        <p:nvSpPr>
          <p:cNvPr id="47" name="Text 39"/>
          <p:cNvSpPr/>
          <p:nvPr/>
        </p:nvSpPr>
        <p:spPr>
          <a:xfrm>
            <a:off x="6519672" y="5106924"/>
            <a:ext cx="47091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Doctor  </a:t>
            </a: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anjali.mehta@citycare.example</a:t>
            </a:r>
            <a:endParaRPr lang="en-US" sz="950" dirty="0"/>
          </a:p>
        </p:txBody>
      </p:sp>
      <p:sp>
        <p:nvSpPr>
          <p:cNvPr id="48" name="Text 40"/>
          <p:cNvSpPr/>
          <p:nvPr/>
        </p:nvSpPr>
        <p:spPr>
          <a:xfrm>
            <a:off x="6519672" y="5266944"/>
            <a:ext cx="47091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   </a:t>
            </a: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admin@citycare.example</a:t>
            </a:r>
            <a:endParaRPr lang="en-US" sz="950" dirty="0"/>
          </a:p>
        </p:txBody>
      </p:sp>
      <p:sp>
        <p:nvSpPr>
          <p:cNvPr id="49" name="Shape 41"/>
          <p:cNvSpPr/>
          <p:nvPr/>
        </p:nvSpPr>
        <p:spPr>
          <a:xfrm>
            <a:off x="6199632" y="5605272"/>
            <a:ext cx="5349240" cy="704088"/>
          </a:xfrm>
          <a:prstGeom prst="roundRect">
            <a:avLst>
              <a:gd name="adj" fmla="val 11688"/>
            </a:avLst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2"/>
          <p:cNvSpPr/>
          <p:nvPr/>
        </p:nvSpPr>
        <p:spPr>
          <a:xfrm>
            <a:off x="6473952" y="5678424"/>
            <a:ext cx="4800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Deploys to Render and Neon on free tiers. Scheduled jobs run through GitHub Actions because free tiers do not offer background workers.</a:t>
            </a:r>
            <a:br>
              <a:rPr lang="en-US" sz="10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000" dirty="0">
                <a:solidFill>
                  <a:srgbClr val="BFDBFE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  <a:hlinkClick r:id="rId9"/>
              </a:rPr>
              <a:t>Production LINK</a:t>
            </a:r>
            <a:endParaRPr lang="en-US" sz="1000" dirty="0"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1001</Words>
  <Application>Microsoft Office PowerPoint</Application>
  <PresentationFormat>Widescreen</PresentationFormat>
  <Paragraphs>118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TANMAY SINGH</cp:lastModifiedBy>
  <cp:revision>2</cp:revision>
  <dcterms:created xsi:type="dcterms:W3CDTF">2026-08-23T22:52:35Z</dcterms:created>
  <dcterms:modified xsi:type="dcterms:W3CDTF">2026-08-23T22:56:43Z</dcterms:modified>
</cp:coreProperties>
</file>